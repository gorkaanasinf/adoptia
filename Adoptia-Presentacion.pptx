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6309360"/>
            <a:ext cx="14173200" cy="54864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90480" y="1173175"/>
            <a:ext cx="672998" cy="578358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784098"/>
            <a:ext cx="315468" cy="36804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4605" y="626364"/>
            <a:ext cx="336499" cy="389077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79558" y="626364"/>
            <a:ext cx="336499" cy="389077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73994" y="784098"/>
            <a:ext cx="315468" cy="36804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67644" y="2345436"/>
            <a:ext cx="438912" cy="377190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44200" y="2091690"/>
            <a:ext cx="205740" cy="240029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22508" y="1988820"/>
            <a:ext cx="219456" cy="25374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121390" y="1988820"/>
            <a:ext cx="219456" cy="25374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13414" y="2091690"/>
            <a:ext cx="205740" cy="240029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2725B"/>
                </a:solidFill>
                <a:latin typeface="Montserrat"/>
              </a:rPr>
              <a:t>PLATAFORMA DE ADOPCIÓN ANIMAL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182880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0" b="1">
                <a:solidFill>
                  <a:srgbClr val="FEF8F0"/>
                </a:solidFill>
                <a:latin typeface="Montserrat"/>
              </a:rPr>
              <a:t>Adoptia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>
                <a:solidFill>
                  <a:srgbClr val="E7E2DA"/>
                </a:solidFill>
                <a:latin typeface="Montserrat"/>
              </a:rPr>
              <a:t>La forma más </a:t>
            </a:r>
            <a:r>
              <a:rPr sz="3000" b="1">
                <a:solidFill>
                  <a:srgbClr val="E2725B"/>
                </a:solidFill>
                <a:latin typeface="Montserrat"/>
              </a:rPr>
              <a:t>humana</a:t>
            </a:r>
            <a:r>
              <a:rPr sz="3000" b="0">
                <a:solidFill>
                  <a:srgbClr val="E7E2DA"/>
                </a:solidFill>
                <a:latin typeface="Montserrat"/>
              </a:rPr>
              <a:t> de encontrar hogar.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7091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EF8F0"/>
                </a:solidFill>
                <a:latin typeface="Open Sans"/>
              </a:rPr>
              <a:t>Conectamos protectoras con personas que quieren adoptar. Buscar cerca, conocer la ficha y solicitar — sin una sola llamada.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55987" y="5095036"/>
            <a:ext cx="936345" cy="804672"/>
          </a:xfrm>
          <a:prstGeom prst="ellipse">
            <a:avLst/>
          </a:prstGeom>
          <a:solidFill>
            <a:srgbClr val="8B3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92640" y="4553712"/>
            <a:ext cx="438912" cy="512063"/>
          </a:xfrm>
          <a:prstGeom prst="ellipse">
            <a:avLst/>
          </a:prstGeom>
          <a:solidFill>
            <a:srgbClr val="8B3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73030" y="4334256"/>
            <a:ext cx="468172" cy="541324"/>
          </a:xfrm>
          <a:prstGeom prst="ellipse">
            <a:avLst/>
          </a:prstGeom>
          <a:solidFill>
            <a:srgbClr val="8B3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97312" y="4334256"/>
            <a:ext cx="468172" cy="541324"/>
          </a:xfrm>
          <a:prstGeom prst="ellipse">
            <a:avLst/>
          </a:prstGeom>
          <a:solidFill>
            <a:srgbClr val="8B3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06963" y="4553712"/>
            <a:ext cx="438912" cy="512063"/>
          </a:xfrm>
          <a:prstGeom prst="ellipse">
            <a:avLst/>
          </a:prstGeom>
          <a:solidFill>
            <a:srgbClr val="8B36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DAD3"/>
                </a:solidFill>
                <a:latin typeface="Montserrat"/>
              </a:rPr>
              <a:t>EL PUNTO DE PARTIDA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0" b="1">
                <a:solidFill>
                  <a:srgbClr val="FFFFFF"/>
                </a:solidFill>
                <a:latin typeface="Montserrat"/>
              </a:rPr>
              <a:t>≈ 300.000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FEF8F0"/>
                </a:solidFill>
                <a:latin typeface="Montserrat"/>
              </a:rPr>
              <a:t>animales abandonados cada año en España.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292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DAD3"/>
                </a:solidFill>
                <a:latin typeface="Open Sans"/>
              </a:rPr>
              <a:t>Muchos esperan en protectoras que los gestionan a mano, por teléfono y dispersos en redes sociales. </a:t>
            </a:r>
            <a:r>
              <a:rPr sz="1600" b="1">
                <a:solidFill>
                  <a:srgbClr val="FFFFFF"/>
                </a:solidFill>
                <a:latin typeface="Open Sans"/>
              </a:rPr>
              <a:t>Ese es el problema que Adoptia resuelve.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6172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FFDAD3"/>
                </a:solidFill>
                <a:latin typeface="Open Sans"/>
              </a:rPr>
              <a:t>Estimación del sector de protección animal en España.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72369" y="5437022"/>
            <a:ext cx="760780" cy="65379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997196"/>
            <a:ext cx="356616" cy="416052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7467" y="4818888"/>
            <a:ext cx="380390" cy="43982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12196" y="4818888"/>
            <a:ext cx="380390" cy="43982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45037" y="4997196"/>
            <a:ext cx="356616" cy="416052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2725B"/>
                </a:solidFill>
                <a:latin typeface="Montserrat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4069080"/>
            <a:ext cx="822960" cy="54864"/>
          </a:xfrm>
          <a:prstGeom prst="rect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519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EF8F0"/>
                </a:solidFill>
                <a:latin typeface="Montserrat"/>
              </a:rPr>
              <a:t>El 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12648"/>
            <a:ext cx="310896" cy="4572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394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9F402D"/>
                </a:solidFill>
                <a:latin typeface="Montserrat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>
                <a:solidFill>
                  <a:srgbClr val="1D1B17"/>
                </a:solidFill>
                <a:latin typeface="Montserrat"/>
              </a:rPr>
              <a:t>Adoptar hoy es un cuello de botella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3611880" cy="356616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3611880" cy="109728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19800000">
            <a:off x="861822" y="3033522"/>
            <a:ext cx="699516" cy="310896"/>
          </a:xfrm>
          <a:prstGeom prst="roundRect">
            <a:avLst/>
          </a:prstGeom>
          <a:noFill/>
          <a:ln w="31750">
            <a:solidFill>
              <a:srgbClr val="9F4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61822" y="2955798"/>
            <a:ext cx="738378" cy="77724"/>
          </a:xfrm>
          <a:prstGeom prst="round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D1B17"/>
                </a:solidFill>
                <a:latin typeface="Montserrat"/>
              </a:rPr>
              <a:t>Filtro por teléfono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6423E"/>
                </a:solidFill>
                <a:latin typeface="Open Sans"/>
              </a:rPr>
              <a:t>La protectora criba cada solicitud a mano, llamada a llamada. Horas de trabajo administrativo que roban tiempo a los animales.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48840"/>
            <a:ext cx="3611880" cy="356616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148840"/>
            <a:ext cx="3611880" cy="109728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7720" y="2606040"/>
            <a:ext cx="777240" cy="777240"/>
          </a:xfrm>
          <a:prstGeom prst="ellipse">
            <a:avLst/>
          </a:prstGeom>
          <a:noFill/>
          <a:ln w="31750">
            <a:solidFill>
              <a:srgbClr val="9F4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19802" y="2808122"/>
            <a:ext cx="373075" cy="373075"/>
          </a:xfrm>
          <a:prstGeom prst="ellipse">
            <a:avLst/>
          </a:prstGeom>
          <a:noFill/>
          <a:ln w="31750">
            <a:solidFill>
              <a:srgbClr val="9F4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944160" y="2932480"/>
            <a:ext cx="124358" cy="124358"/>
          </a:xfrm>
          <a:prstGeom prst="ellipse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118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D1B17"/>
                </a:solidFill>
                <a:latin typeface="Montserrat"/>
              </a:rPr>
              <a:t>Animales invisibles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2062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6423E"/>
                </a:solidFill>
                <a:latin typeface="Open Sans"/>
              </a:rPr>
              <a:t>Dispersos en redes y grupos de chat. El adoptante no encuentra al compatible que tiene a pocos kilómetros de casa.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48840"/>
            <a:ext cx="3611880" cy="356616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2148840"/>
            <a:ext cx="3611880" cy="109728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0" y="2606040"/>
            <a:ext cx="777240" cy="559612"/>
          </a:xfrm>
          <a:prstGeom prst="roundRect">
            <a:avLst/>
          </a:prstGeom>
          <a:noFill/>
          <a:ln w="31750">
            <a:solidFill>
              <a:srgbClr val="9F4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8536838" y="3087928"/>
            <a:ext cx="186537" cy="217627"/>
          </a:xfrm>
          <a:prstGeom prst="triangle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6118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D1B17"/>
                </a:solidFill>
                <a:latin typeface="Montserrat"/>
              </a:rPr>
              <a:t>Sin proceso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0624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6423E"/>
                </a:solidFill>
                <a:latin typeface="Open Sans"/>
              </a:rPr>
              <a:t>Ni cuestionario, ni citas, ni seguimiento. Todo improvisado, todo lento, y muchas adopciones que se caen por el camino.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F402D"/>
                </a:solidFill>
                <a:latin typeface="Montserrat"/>
              </a:rPr>
              <a:t>ADOPTIA</a:t>
            </a:r>
            <a:r>
              <a:rPr sz="900" b="0">
                <a:solidFill>
                  <a:srgbClr val="56423E"/>
                </a:solidFill>
                <a:latin typeface="Open Sans"/>
              </a:rPr>
              <a:t>   ·   El problema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6423E"/>
                </a:solidFill>
                <a:latin typeface="Montserra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72369" y="5437022"/>
            <a:ext cx="760780" cy="65379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997196"/>
            <a:ext cx="356616" cy="416052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7467" y="4818888"/>
            <a:ext cx="380390" cy="43982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12196" y="4818888"/>
            <a:ext cx="380390" cy="43982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45037" y="4997196"/>
            <a:ext cx="356616" cy="416052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BCECE6"/>
                </a:solidFill>
                <a:latin typeface="Montserrat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4069080"/>
            <a:ext cx="822960" cy="54864"/>
          </a:xfrm>
          <a:prstGeom prst="rect">
            <a:avLst/>
          </a:prstGeom>
          <a:solidFill>
            <a:srgbClr val="BC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519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EF8F0"/>
                </a:solidFill>
                <a:latin typeface="Montserrat"/>
              </a:rPr>
              <a:t>La solución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96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96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64470" y="1100937"/>
            <a:ext cx="702259" cy="603504"/>
          </a:xfrm>
          <a:prstGeom prst="ellipse">
            <a:avLst/>
          </a:prstGeom>
          <a:solidFill>
            <a:srgbClr val="305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694944"/>
            <a:ext cx="329184" cy="384048"/>
          </a:xfrm>
          <a:prstGeom prst="ellipse">
            <a:avLst/>
          </a:prstGeom>
          <a:solidFill>
            <a:srgbClr val="305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52252" y="530352"/>
            <a:ext cx="351129" cy="405993"/>
          </a:xfrm>
          <a:prstGeom prst="ellipse">
            <a:avLst/>
          </a:prstGeom>
          <a:solidFill>
            <a:srgbClr val="305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70464" y="530352"/>
            <a:ext cx="351129" cy="405993"/>
          </a:xfrm>
          <a:prstGeom prst="ellipse">
            <a:avLst/>
          </a:prstGeom>
          <a:solidFill>
            <a:srgbClr val="305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77702" y="694944"/>
            <a:ext cx="329184" cy="384048"/>
          </a:xfrm>
          <a:prstGeom prst="ellipse">
            <a:avLst/>
          </a:prstGeom>
          <a:solidFill>
            <a:srgbClr val="305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98448"/>
            <a:ext cx="310896" cy="45720"/>
          </a:xfrm>
          <a:prstGeom prst="rect">
            <a:avLst/>
          </a:prstGeom>
          <a:solidFill>
            <a:srgbClr val="BC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2252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BCECE6"/>
                </a:solidFill>
                <a:latin typeface="Montserrat"/>
              </a:rPr>
              <a:t>LA 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12471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ontserrat"/>
              </a:rPr>
              <a:t>Un solo lugar donde la adopción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BCECE6"/>
                </a:solidFill>
                <a:latin typeface="Montserrat"/>
              </a:rPr>
              <a:t>simplemente funciona.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>
                <a:solidFill>
                  <a:srgbClr val="FEF8F0"/>
                </a:solidFill>
                <a:latin typeface="Open Sans"/>
              </a:rPr>
              <a:t>La protectora publica y gestiona desde un panel. El adoptante busca en un mapa por cercanía, abre la ficha y arranca con un cuestionario de pre-adopción que hace el filtro por ella. </a:t>
            </a:r>
            <a:r>
              <a:rPr sz="1900" b="1">
                <a:solidFill>
                  <a:srgbClr val="BCECE6"/>
                </a:solidFill>
                <a:latin typeface="Open Sans"/>
              </a:rPr>
              <a:t>Menos teléfono, más adopciones.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12648"/>
            <a:ext cx="310896" cy="4572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394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9F402D"/>
                </a:solidFill>
                <a:latin typeface="Montserrat"/>
              </a:rPr>
              <a:t>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D1B17"/>
                </a:solidFill>
                <a:latin typeface="Montserrat"/>
              </a:rPr>
              <a:t>Todo el ciclo, en una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9F402D"/>
                </a:solidFill>
                <a:latin typeface="Montserrat"/>
              </a:rPr>
              <a:t>misma pantalla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46888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D1B17"/>
                </a:solidFill>
                <a:latin typeface="Montserrat"/>
              </a:rPr>
              <a:t>Buscar por mapa y filtros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6423E"/>
                </a:solidFill>
                <a:latin typeface="Open Sans"/>
              </a:rPr>
              <a:t>Especie, tamaño, zona, «apto para piso», urgentes.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>
                <a:solidFill>
                  <a:srgbClr val="1D1B17"/>
                </a:solidFill>
                <a:latin typeface="Open San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D1B17"/>
                </a:solidFill>
                <a:latin typeface="Montserrat"/>
              </a:rPr>
              <a:t>Ficha rica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6423E"/>
                </a:solidFill>
                <a:latin typeface="Open Sans"/>
              </a:rPr>
              <a:t>Fotos, vídeo, carácter e historia de cada animal.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700" b="0">
                <a:solidFill>
                  <a:srgbClr val="1D1B17"/>
                </a:solidFill>
                <a:latin typeface="Open Sans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D1B17"/>
                </a:solidFill>
                <a:latin typeface="Montserrat"/>
              </a:rPr>
              <a:t>Solicitar en un clic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6423E"/>
                </a:solidFill>
                <a:latin typeface="Open Sans"/>
              </a:rPr>
              <a:t>«Me interesa» + cuestionario. La protectora responde con cita.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417320"/>
            <a:ext cx="585216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06440" y="1417320"/>
            <a:ext cx="5852160" cy="45720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35040" y="1572768"/>
            <a:ext cx="146304" cy="146304"/>
          </a:xfrm>
          <a:prstGeom prst="ellipse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291072" y="1572768"/>
            <a:ext cx="146304" cy="146304"/>
          </a:xfrm>
          <a:prstGeom prst="ellipse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47104" y="1572768"/>
            <a:ext cx="146304" cy="146304"/>
          </a:xfrm>
          <a:prstGeom prst="ellipse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78040" y="1536192"/>
            <a:ext cx="4023360" cy="21945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0760" y="2103120"/>
            <a:ext cx="5303520" cy="1554480"/>
          </a:xfrm>
          <a:prstGeom prst="roundRect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28232" y="2807208"/>
            <a:ext cx="585216" cy="502920"/>
          </a:xfrm>
          <a:prstGeom prst="ellipse">
            <a:avLst/>
          </a:prstGeom>
          <a:solidFill>
            <a:srgbClr val="C95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63640" y="2468880"/>
            <a:ext cx="274320" cy="320040"/>
          </a:xfrm>
          <a:prstGeom prst="ellipse">
            <a:avLst/>
          </a:prstGeom>
          <a:solidFill>
            <a:srgbClr val="C95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1384" y="2331720"/>
            <a:ext cx="292608" cy="338328"/>
          </a:xfrm>
          <a:prstGeom prst="ellipse">
            <a:avLst/>
          </a:prstGeom>
          <a:solidFill>
            <a:srgbClr val="C95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66560" y="2331720"/>
            <a:ext cx="292608" cy="338328"/>
          </a:xfrm>
          <a:prstGeom prst="ellipse">
            <a:avLst/>
          </a:prstGeom>
          <a:solidFill>
            <a:srgbClr val="C95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22592" y="2468880"/>
            <a:ext cx="274320" cy="320040"/>
          </a:xfrm>
          <a:prstGeom prst="ellipse">
            <a:avLst/>
          </a:prstGeom>
          <a:solidFill>
            <a:srgbClr val="C95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560320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Luna · Mestiza · 2 años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FDAD3"/>
                </a:solidFill>
                <a:latin typeface="Open Sans"/>
              </a:rPr>
              <a:t>A 3 km de ti</a:t>
            </a:r>
          </a:p>
        </p:txBody>
      </p:sp>
      <p:sp>
        <p:nvSpPr>
          <p:cNvPr id="20" name="Oval 19"/>
          <p:cNvSpPr/>
          <p:nvPr/>
        </p:nvSpPr>
        <p:spPr>
          <a:xfrm>
            <a:off x="10817352" y="228600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rt 20"/>
          <p:cNvSpPr/>
          <p:nvPr/>
        </p:nvSpPr>
        <p:spPr>
          <a:xfrm>
            <a:off x="10881360" y="2350008"/>
            <a:ext cx="256032" cy="256032"/>
          </a:xfrm>
          <a:prstGeom prst="heart">
            <a:avLst/>
          </a:prstGeom>
          <a:noFill/>
          <a:ln w="31750">
            <a:solidFill>
              <a:srgbClr val="9F4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3886200"/>
            <a:ext cx="1645920" cy="1417320"/>
          </a:xfrm>
          <a:prstGeom prst="roundRect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72200" y="3977640"/>
            <a:ext cx="1463040" cy="685800"/>
          </a:xfrm>
          <a:prstGeom prst="roundRect">
            <a:avLst/>
          </a:prstGeom>
          <a:solidFill>
            <a:srgbClr val="396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4782312"/>
            <a:ext cx="1188720" cy="109728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4983480"/>
            <a:ext cx="822960" cy="9144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09560" y="3886200"/>
            <a:ext cx="1645920" cy="1417320"/>
          </a:xfrm>
          <a:prstGeom prst="roundRect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01000" y="3977640"/>
            <a:ext cx="1463040" cy="685800"/>
          </a:xfrm>
          <a:prstGeom prst="round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9288" y="4782312"/>
            <a:ext cx="1188720" cy="109728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9288" y="4983480"/>
            <a:ext cx="822960" cy="9144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38360" y="3886200"/>
            <a:ext cx="1645920" cy="1417320"/>
          </a:xfrm>
          <a:prstGeom prst="roundRect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29800" y="3977640"/>
            <a:ext cx="1463040" cy="685800"/>
          </a:xfrm>
          <a:prstGeom prst="roundRect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48088" y="4782312"/>
            <a:ext cx="1188720" cy="109728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48088" y="4983480"/>
            <a:ext cx="822960" cy="91440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F402D"/>
                </a:solidFill>
                <a:latin typeface="Montserrat"/>
              </a:rPr>
              <a:t>ADOPTIA</a:t>
            </a:r>
            <a:r>
              <a:rPr sz="900" b="0">
                <a:solidFill>
                  <a:srgbClr val="56423E"/>
                </a:solidFill>
                <a:latin typeface="Open Sans"/>
              </a:rPr>
              <a:t>   ·   El producto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6423E"/>
                </a:solidFill>
                <a:latin typeface="Montserra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12648"/>
            <a:ext cx="310896" cy="4572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394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9F402D"/>
                </a:solidFill>
                <a:latin typeface="Montserrat"/>
              </a:rPr>
              <a:t>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D1B17"/>
                </a:solidFill>
                <a:latin typeface="Montserrat"/>
              </a:rPr>
              <a:t>Del sofá a la adopción, en cinco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80360"/>
            <a:ext cx="10332720" cy="27432"/>
          </a:xfrm>
          <a:prstGeom prst="rect">
            <a:avLst/>
          </a:prstGeom>
          <a:solidFill>
            <a:srgbClr val="E7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7" y="2496312"/>
            <a:ext cx="768096" cy="768096"/>
          </a:xfrm>
          <a:prstGeom prst="ellipse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7" y="249631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2044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9F402D"/>
                </a:solidFill>
                <a:latin typeface="Montserrat"/>
              </a:rPr>
              <a:t>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23360"/>
            <a:ext cx="19019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El adoptante explora el mapa y filtra por lo que encaja con su vida.</a:t>
            </a:r>
          </a:p>
        </p:txBody>
      </p:sp>
      <p:sp>
        <p:nvSpPr>
          <p:cNvPr id="11" name="Oval 10"/>
          <p:cNvSpPr/>
          <p:nvPr/>
        </p:nvSpPr>
        <p:spPr>
          <a:xfrm>
            <a:off x="3364990" y="2496312"/>
            <a:ext cx="768096" cy="768096"/>
          </a:xfrm>
          <a:prstGeom prst="ellipse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0" y="249631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3" y="352044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E2725B"/>
                </a:solidFill>
                <a:latin typeface="Montserrat"/>
              </a:rPr>
              <a:t>Descubre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3" y="4023360"/>
            <a:ext cx="19019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Abre la ficha: fotos, vídeo, carácter e historia del animal.</a:t>
            </a:r>
          </a:p>
        </p:txBody>
      </p:sp>
      <p:sp>
        <p:nvSpPr>
          <p:cNvPr id="15" name="Oval 14"/>
          <p:cNvSpPr/>
          <p:nvPr/>
        </p:nvSpPr>
        <p:spPr>
          <a:xfrm>
            <a:off x="5568693" y="2496312"/>
            <a:ext cx="768096" cy="768096"/>
          </a:xfrm>
          <a:prstGeom prst="ellipse">
            <a:avLst/>
          </a:prstGeom>
          <a:solidFill>
            <a:srgbClr val="396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68693" y="249631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6" y="352044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396662"/>
                </a:solidFill>
                <a:latin typeface="Montserrat"/>
              </a:rPr>
              <a:t>Solicita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1766" y="4023360"/>
            <a:ext cx="19019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Rellena el cuestionario de pre-adopción. «Me interesa» en un clic.</a:t>
            </a:r>
          </a:p>
        </p:txBody>
      </p:sp>
      <p:sp>
        <p:nvSpPr>
          <p:cNvPr id="19" name="Oval 18"/>
          <p:cNvSpPr/>
          <p:nvPr/>
        </p:nvSpPr>
        <p:spPr>
          <a:xfrm>
            <a:off x="7772396" y="2496312"/>
            <a:ext cx="768096" cy="768096"/>
          </a:xfrm>
          <a:prstGeom prst="ellipse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396" y="249631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29" y="352044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4E635A"/>
                </a:solidFill>
                <a:latin typeface="Montserrat"/>
              </a:rPr>
              <a:t>Agenda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5469" y="4023360"/>
            <a:ext cx="19019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La protectora revisa y propone cita según su disponibilidad.</a:t>
            </a:r>
          </a:p>
        </p:txBody>
      </p:sp>
      <p:sp>
        <p:nvSpPr>
          <p:cNvPr id="23" name="Oval 22"/>
          <p:cNvSpPr/>
          <p:nvPr/>
        </p:nvSpPr>
        <p:spPr>
          <a:xfrm>
            <a:off x="9976099" y="2496312"/>
            <a:ext cx="768096" cy="768096"/>
          </a:xfrm>
          <a:prstGeom prst="ellipse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76099" y="2496312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2" y="3520440"/>
            <a:ext cx="20848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9F402D"/>
                </a:solidFill>
                <a:latin typeface="Montserrat"/>
              </a:rPr>
              <a:t>Adopta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9172" y="4023360"/>
            <a:ext cx="1901951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Se conocen, se cierra la adopción y suma a las Historias felices.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F402D"/>
                </a:solidFill>
                <a:latin typeface="Montserrat"/>
              </a:rPr>
              <a:t>ADOPTIA</a:t>
            </a:r>
            <a:r>
              <a:rPr sz="900" b="0">
                <a:solidFill>
                  <a:srgbClr val="56423E"/>
                </a:solidFill>
                <a:latin typeface="Open Sans"/>
              </a:rPr>
              <a:t>   ·   Cómo funciona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6423E"/>
                </a:solidFill>
                <a:latin typeface="Montserra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12648"/>
            <a:ext cx="310896" cy="4572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394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9F402D"/>
                </a:solidFill>
                <a:latin typeface="Montserrat"/>
              </a:rPr>
              <a:t>PARA QUIÉN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D1B17"/>
                </a:solidFill>
                <a:latin typeface="Montserrat"/>
              </a:rPr>
              <a:t>Tres actores, un ecosistema de confianza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611880" cy="109728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423160"/>
            <a:ext cx="914400" cy="914400"/>
          </a:xfrm>
          <a:prstGeom prst="ellipse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6891" y="2633472"/>
            <a:ext cx="204825" cy="204825"/>
          </a:xfrm>
          <a:prstGeom prst="ellipse">
            <a:avLst/>
          </a:prstGeom>
          <a:noFill/>
          <a:ln w="31750">
            <a:solidFill>
              <a:srgbClr val="9F4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1084478" y="2858780"/>
            <a:ext cx="409651" cy="286755"/>
          </a:xfrm>
          <a:prstGeom prst="triangle">
            <a:avLst/>
          </a:prstGeom>
          <a:noFill/>
          <a:ln w="31750">
            <a:solidFill>
              <a:srgbClr val="9F4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514600"/>
            <a:ext cx="2057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D1B17"/>
                </a:solidFill>
                <a:latin typeface="Montserrat"/>
              </a:rPr>
              <a:t>Adoptante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611880"/>
            <a:ext cx="2971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9F402D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Un compañero compatible cerca de casa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9F402D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Fichas con foto, vídeo e historia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9F402D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Solicita sin llamadas ni redes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9F402D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Favoritos, alertas y sus solicitudes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1168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011680"/>
            <a:ext cx="3611880" cy="109728"/>
          </a:xfrm>
          <a:prstGeom prst="rect">
            <a:avLst/>
          </a:prstGeom>
          <a:solidFill>
            <a:srgbClr val="396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720" y="2423160"/>
            <a:ext cx="914400" cy="914400"/>
          </a:xfrm>
          <a:prstGeom prst="ellipse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4828032" y="2633472"/>
            <a:ext cx="512064" cy="281635"/>
          </a:xfrm>
          <a:prstGeom prst="triangle">
            <a:avLst/>
          </a:prstGeom>
          <a:noFill/>
          <a:ln w="31750">
            <a:solidFill>
              <a:srgbClr val="396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09962" y="2879262"/>
            <a:ext cx="348203" cy="266273"/>
          </a:xfrm>
          <a:prstGeom prst="rect">
            <a:avLst/>
          </a:prstGeom>
          <a:noFill/>
          <a:ln w="31750">
            <a:solidFill>
              <a:srgbClr val="396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514600"/>
            <a:ext cx="2057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D1B17"/>
                </a:solidFill>
                <a:latin typeface="Montserrat"/>
              </a:rPr>
              <a:t>Protectora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611880"/>
            <a:ext cx="2971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96662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Publica y gestiona sus animales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96662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Solicitudes ya filtradas por cuestionario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96662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Agenda de citas y disponibilidad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396662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Perfil público, stats y difusión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011680"/>
            <a:ext cx="361188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2011680"/>
            <a:ext cx="3611880" cy="109728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0" y="2423160"/>
            <a:ext cx="914400" cy="914400"/>
          </a:xfrm>
          <a:prstGeom prst="ellipse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22792" y="2633472"/>
            <a:ext cx="512064" cy="512064"/>
          </a:xfrm>
          <a:prstGeom prst="ellipse">
            <a:avLst/>
          </a:prstGeom>
          <a:noFill/>
          <a:ln w="31750">
            <a:solidFill>
              <a:srgbClr val="4E6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262323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4E635A"/>
                </a:solidFill>
                <a:latin typeface="Montserrat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514600"/>
            <a:ext cx="2057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1D1B17"/>
                </a:solidFill>
                <a:latin typeface="Montserrat"/>
              </a:rPr>
              <a:t>Admin Adoptia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9912" y="3611880"/>
            <a:ext cx="2971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4E635A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Verifica cada protectora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4E635A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Modera contenido y cuentas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4E635A"/>
                </a:solidFill>
                <a:latin typeface="Open Sans"/>
              </a:rPr>
              <a:t>—  </a:t>
            </a:r>
            <a:r>
              <a:rPr sz="1400" b="0">
                <a:solidFill>
                  <a:srgbClr val="56423E"/>
                </a:solidFill>
                <a:latin typeface="Open Sans"/>
              </a:rPr>
              <a:t>Sostiene la confianza del sistema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F402D"/>
                </a:solidFill>
                <a:latin typeface="Montserrat"/>
              </a:rPr>
              <a:t>ADOPTIA</a:t>
            </a:r>
            <a:r>
              <a:rPr sz="900" b="0">
                <a:solidFill>
                  <a:srgbClr val="56423E"/>
                </a:solidFill>
                <a:latin typeface="Open Sans"/>
              </a:rPr>
              <a:t>   ·   Para quién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6423E"/>
                </a:solidFill>
                <a:latin typeface="Montserra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72369" y="5437022"/>
            <a:ext cx="760780" cy="65379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997196"/>
            <a:ext cx="356616" cy="416052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7467" y="4818888"/>
            <a:ext cx="380390" cy="43982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12196" y="4818888"/>
            <a:ext cx="380390" cy="43982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045037" y="4997196"/>
            <a:ext cx="356616" cy="416052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0" b="1">
                <a:solidFill>
                  <a:srgbClr val="E2725B"/>
                </a:solidFill>
                <a:latin typeface="Montserrat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4069080"/>
            <a:ext cx="822960" cy="54864"/>
          </a:xfrm>
          <a:prstGeom prst="rect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5196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EF8F0"/>
                </a:solidFill>
                <a:latin typeface="Montserrat"/>
              </a:rPr>
              <a:t>El ecosistema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12648"/>
            <a:ext cx="310896" cy="4572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394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9F402D"/>
                </a:solidFill>
                <a:latin typeface="Montserrat"/>
              </a:rPr>
              <a:t>MÁS ALLÁ DE ADOPTAR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D1B17"/>
                </a:solidFill>
                <a:latin typeface="Montserrat"/>
              </a:rPr>
              <a:t>Una plataforma para toda la causa animal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3611880" cy="178308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109728" cy="178308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221992"/>
            <a:ext cx="395020" cy="395020"/>
          </a:xfrm>
          <a:prstGeom prst="ellipse">
            <a:avLst/>
          </a:prstGeom>
          <a:noFill/>
          <a:ln w="31750">
            <a:solidFill>
              <a:srgbClr val="9F40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1152144" y="2551176"/>
            <a:ext cx="197510" cy="65836"/>
          </a:xfrm>
          <a:prstGeom prst="round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224028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9F402D"/>
                </a:solidFill>
                <a:latin typeface="Montserrat"/>
              </a:rPr>
              <a:t>Perdidos y encontrados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Avisos con galería y contacto sin exponer datos. Avistamientos ciudadanos en mapa.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965960"/>
            <a:ext cx="3611880" cy="178308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965960"/>
            <a:ext cx="109728" cy="1783080"/>
          </a:xfrm>
          <a:prstGeom prst="rect">
            <a:avLst/>
          </a:prstGeom>
          <a:solidFill>
            <a:srgbClr val="396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4617720" y="2221992"/>
            <a:ext cx="548640" cy="301752"/>
          </a:xfrm>
          <a:prstGeom prst="triangle">
            <a:avLst/>
          </a:prstGeom>
          <a:noFill/>
          <a:ln w="31750">
            <a:solidFill>
              <a:srgbClr val="396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5502" y="2485339"/>
            <a:ext cx="373075" cy="285292"/>
          </a:xfrm>
          <a:prstGeom prst="rect">
            <a:avLst/>
          </a:prstGeom>
          <a:noFill/>
          <a:ln w="31750">
            <a:solidFill>
              <a:srgbClr val="396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24028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396662"/>
                </a:solidFill>
                <a:latin typeface="Montserrat"/>
              </a:rPr>
              <a:t>Casas de acogida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2608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Registro de acogedores, propuestas con trazabilidad y relevo en emergencias.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965960"/>
            <a:ext cx="3611880" cy="178308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965960"/>
            <a:ext cx="109728" cy="1783080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0" y="2276856"/>
            <a:ext cx="548640" cy="493776"/>
          </a:xfrm>
          <a:prstGeom prst="roundRect">
            <a:avLst/>
          </a:prstGeom>
          <a:noFill/>
          <a:ln w="31750">
            <a:solidFill>
              <a:srgbClr val="4E6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276856"/>
            <a:ext cx="548640" cy="120700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4153" y="2221992"/>
            <a:ext cx="54864" cy="120700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74582" y="2221992"/>
            <a:ext cx="54864" cy="120700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224028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4E635A"/>
                </a:solidFill>
                <a:latin typeface="Montserrat"/>
              </a:rPr>
              <a:t>Jornadas de adopción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Crear y publicar eventos, mapa, RSVP, recordatorios y cierre con métricas.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931920"/>
            <a:ext cx="3611880" cy="178308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931920"/>
            <a:ext cx="109728" cy="1783080"/>
          </a:xfrm>
          <a:prstGeom prst="rect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eart 27"/>
          <p:cNvSpPr/>
          <p:nvPr/>
        </p:nvSpPr>
        <p:spPr>
          <a:xfrm>
            <a:off x="822960" y="4187952"/>
            <a:ext cx="548640" cy="548640"/>
          </a:xfrm>
          <a:prstGeom prst="heart">
            <a:avLst/>
          </a:prstGeom>
          <a:noFill/>
          <a:ln w="31750">
            <a:solidFill>
              <a:srgbClr val="E27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00200" y="420624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E2725B"/>
                </a:solidFill>
                <a:latin typeface="Montserrat"/>
              </a:rPr>
              <a:t>Apadrinamiento y donaciones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48920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Apadrina animales, tablón de necesidades y ofertas de material.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931920"/>
            <a:ext cx="3611880" cy="178308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3931920"/>
            <a:ext cx="109728" cy="1783080"/>
          </a:xfrm>
          <a:prstGeom prst="rect">
            <a:avLst/>
          </a:prstGeom>
          <a:solidFill>
            <a:srgbClr val="396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4489704"/>
            <a:ext cx="131673" cy="246888"/>
          </a:xfrm>
          <a:prstGeom prst="rect">
            <a:avLst/>
          </a:prstGeom>
          <a:noFill/>
          <a:ln w="31750">
            <a:solidFill>
              <a:srgbClr val="396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04257" y="4341571"/>
            <a:ext cx="131673" cy="395020"/>
          </a:xfrm>
          <a:prstGeom prst="rect">
            <a:avLst/>
          </a:prstGeom>
          <a:noFill/>
          <a:ln w="31750">
            <a:solidFill>
              <a:srgbClr val="396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90795" y="4187952"/>
            <a:ext cx="131673" cy="548640"/>
          </a:xfrm>
          <a:prstGeom prst="rect">
            <a:avLst/>
          </a:prstGeom>
          <a:noFill/>
          <a:ln w="31750">
            <a:solidFill>
              <a:srgbClr val="396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94960" y="420624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396662"/>
                </a:solidFill>
                <a:latin typeface="Montserrat"/>
              </a:rPr>
              <a:t>Estadísticas y difusión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8920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Métricas para protectoras y difusión de sus animales en redes.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931920"/>
            <a:ext cx="3611880" cy="1783080"/>
          </a:xfrm>
          <a:prstGeom prst="roundRect">
            <a:avLst/>
          </a:prstGeom>
          <a:solidFill>
            <a:srgbClr val="F9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931920"/>
            <a:ext cx="109728" cy="1783080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12480" y="4253788"/>
            <a:ext cx="548640" cy="416966"/>
          </a:xfrm>
          <a:prstGeom prst="rect">
            <a:avLst/>
          </a:prstGeom>
          <a:noFill/>
          <a:ln w="31750">
            <a:solidFill>
              <a:srgbClr val="4E63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75827" y="4253788"/>
            <a:ext cx="21945" cy="416966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489289" y="4374489"/>
            <a:ext cx="131673" cy="16459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41664" y="4374489"/>
            <a:ext cx="131673" cy="16459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4206240"/>
            <a:ext cx="2331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>
                <a:solidFill>
                  <a:srgbClr val="4E635A"/>
                </a:solidFill>
                <a:latin typeface="Montserrat"/>
              </a:rPr>
              <a:t>Contenido educativo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892040"/>
            <a:ext cx="3063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Guías de adopción responsable e Historias felices como prueba social.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F402D"/>
                </a:solidFill>
                <a:latin typeface="Montserrat"/>
              </a:rPr>
              <a:t>ADOPTIA</a:t>
            </a:r>
            <a:r>
              <a:rPr sz="900" b="0">
                <a:solidFill>
                  <a:srgbClr val="56423E"/>
                </a:solidFill>
                <a:latin typeface="Open Sans"/>
              </a:rPr>
              <a:t>   ·   El ecosistema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6423E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58368"/>
            <a:ext cx="310896" cy="45720"/>
          </a:xfrm>
          <a:prstGeom prst="rect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5852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2725B"/>
                </a:solidFill>
                <a:latin typeface="Montserrat"/>
              </a:rPr>
              <a:t>POR QUÉ IMPORTA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EF8F0"/>
                </a:solidFill>
                <a:latin typeface="Montserrat"/>
              </a:rPr>
              <a:t>Diseñado para quitar fricción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651760" cy="2377440"/>
          </a:xfrm>
          <a:prstGeom prst="roundRect">
            <a:avLst/>
          </a:prstGeom>
          <a:solidFill>
            <a:srgbClr val="2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2651760" cy="91440"/>
          </a:xfrm>
          <a:prstGeom prst="rect">
            <a:avLst/>
          </a:prstGeom>
          <a:solidFill>
            <a:srgbClr val="E27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2725B"/>
                </a:solidFill>
                <a:latin typeface="Montserrat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7E2DA"/>
                </a:solidFill>
                <a:latin typeface="Open Sans"/>
              </a:rPr>
              <a:t>llamadas de filtro previo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2331720"/>
            <a:ext cx="2651760" cy="2377440"/>
          </a:xfrm>
          <a:prstGeom prst="roundRect">
            <a:avLst/>
          </a:prstGeom>
          <a:solidFill>
            <a:srgbClr val="2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2331720"/>
            <a:ext cx="2651760" cy="91440"/>
          </a:xfrm>
          <a:prstGeom prst="rect">
            <a:avLst/>
          </a:prstGeom>
          <a:solidFill>
            <a:srgbClr val="BC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269748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BCECE6"/>
                </a:solidFill>
                <a:latin typeface="Montserra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8404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7E2DA"/>
                </a:solidFill>
                <a:latin typeface="Open Sans"/>
              </a:rPr>
              <a:t>mapa para buscar por cercanía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331720"/>
            <a:ext cx="2651760" cy="2377440"/>
          </a:xfrm>
          <a:prstGeom prst="roundRect">
            <a:avLst/>
          </a:prstGeom>
          <a:solidFill>
            <a:srgbClr val="2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35624" y="2331720"/>
            <a:ext cx="2651760" cy="91440"/>
          </a:xfrm>
          <a:prstGeom prst="rect">
            <a:avLst/>
          </a:prstGeom>
          <a:solidFill>
            <a:srgbClr val="FFDA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269748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DAD3"/>
                </a:solidFill>
                <a:latin typeface="Montserrat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8404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7E2DA"/>
                </a:solidFill>
                <a:latin typeface="Open Sans"/>
              </a:rPr>
              <a:t>en español y gratis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331720"/>
            <a:ext cx="2651760" cy="2377440"/>
          </a:xfrm>
          <a:prstGeom prst="roundRect">
            <a:avLst/>
          </a:prstGeom>
          <a:solidFill>
            <a:srgbClr val="2A28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51976" y="2331720"/>
            <a:ext cx="2651760" cy="91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1976" y="2697480"/>
            <a:ext cx="2651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Montserrat"/>
              </a:rPr>
              <a:t>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38404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7E2DA"/>
                </a:solidFill>
                <a:latin typeface="Open Sans"/>
              </a:rPr>
              <a:t>de coste de operación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1206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E7E2DA"/>
                </a:solidFill>
                <a:latin typeface="Open Sans"/>
              </a:rPr>
              <a:t>Gratis para adoptantes y protectoras. Sostenible con patrocinios, donaciones y subvenciones — sin cobrar a quien salva animales.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E2725B"/>
                </a:solidFill>
                <a:latin typeface="Montserrat"/>
              </a:rPr>
              <a:t>ADOPTIA</a:t>
            </a:r>
            <a:r>
              <a:rPr sz="900" b="0">
                <a:solidFill>
                  <a:srgbClr val="E7E2DA"/>
                </a:solidFill>
                <a:latin typeface="Open Sans"/>
              </a:rPr>
              <a:t>   ·   Por qué importa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E7E2DA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12648"/>
            <a:ext cx="310896" cy="45720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5394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9F402D"/>
                </a:solidFill>
                <a:latin typeface="Montserrat"/>
              </a:rPr>
              <a:t>BAJO EL CAPÓ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1D1B17"/>
                </a:solidFill>
                <a:latin typeface="Montserrat"/>
              </a:rPr>
              <a:t>Moderno, seguro y a coste 0 €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36118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611880" cy="109728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9F402D"/>
                </a:solidFill>
                <a:latin typeface="Montserrat"/>
              </a:rPr>
              <a:t>PRODUCTO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D1B17"/>
                </a:solidFill>
                <a:latin typeface="Montserrat"/>
              </a:rPr>
              <a:t>Next.js 15 · Tailwind · shadcn/ui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6423E"/>
                </a:solidFill>
                <a:latin typeface="Open Sans"/>
              </a:rPr>
              <a:t>Diseño «Warm Earth &amp; Tail», responsive, con vida: reveal, contadores y microinteracciones.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103120"/>
            <a:ext cx="36118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103120"/>
            <a:ext cx="3611880" cy="109728"/>
          </a:xfrm>
          <a:prstGeom prst="rect">
            <a:avLst/>
          </a:prstGeom>
          <a:solidFill>
            <a:srgbClr val="3966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396662"/>
                </a:solidFill>
                <a:latin typeface="Montserrat"/>
              </a:rPr>
              <a:t>DATOS Y SEGURIDAD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D1B17"/>
                </a:solidFill>
                <a:latin typeface="Montserrat"/>
              </a:rPr>
              <a:t>Supabase · Postgres · PostGIS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79476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6423E"/>
                </a:solidFill>
                <a:latin typeface="Open Sans"/>
              </a:rPr>
              <a:t>RLS en cada tabla con tests de acceso. Auth, Storage y geografía nativa.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03120"/>
            <a:ext cx="3611880" cy="3108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103120"/>
            <a:ext cx="3611880" cy="109728"/>
          </a:xfrm>
          <a:prstGeom prst="rect">
            <a:avLst/>
          </a:prstGeom>
          <a:solidFill>
            <a:srgbClr val="4E6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4E635A"/>
                </a:solidFill>
                <a:latin typeface="Montserrat"/>
              </a:rPr>
              <a:t>CALIDAD E 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8036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D1B17"/>
                </a:solidFill>
                <a:latin typeface="Montserrat"/>
              </a:rPr>
              <a:t>TDD · Vitest · Playwright · Vercel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79476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6423E"/>
                </a:solidFill>
                <a:latin typeface="Open Sans"/>
              </a:rPr>
              <a:t>Test antes que código, CI en verde y despliegue continuo con previews.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9F402D"/>
                </a:solidFill>
                <a:latin typeface="Montserrat"/>
              </a:rPr>
              <a:t>ADOPTIA</a:t>
            </a:r>
            <a:r>
              <a:rPr sz="900" b="0">
                <a:solidFill>
                  <a:srgbClr val="56423E"/>
                </a:solidFill>
                <a:latin typeface="Open Sans"/>
              </a:rPr>
              <a:t>   ·   Bajo el capó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56423E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B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914400" y="0"/>
            <a:ext cx="14173200" cy="201168"/>
          </a:xfrm>
          <a:prstGeom prst="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049" y="5528462"/>
            <a:ext cx="760780" cy="65379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5088636"/>
            <a:ext cx="356616" cy="416052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9147" y="4910328"/>
            <a:ext cx="380390" cy="43982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93876" y="4910328"/>
            <a:ext cx="380390" cy="439826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6717" y="5088636"/>
            <a:ext cx="356616" cy="416052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405872" y="1207008"/>
            <a:ext cx="585216" cy="502920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0" y="868680"/>
            <a:ext cx="274320" cy="320040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479024" y="731520"/>
            <a:ext cx="292608" cy="338328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731520"/>
            <a:ext cx="292608" cy="338328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00232" y="868680"/>
            <a:ext cx="274320" cy="320040"/>
          </a:xfrm>
          <a:prstGeom prst="ellipse">
            <a:avLst/>
          </a:prstGeom>
          <a:solidFill>
            <a:srgbClr val="2C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EF8F0"/>
                </a:solidFill>
                <a:latin typeface="Montserrat"/>
              </a:rPr>
              <a:t>Cada adopción empieza aquí.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4290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7E2DA"/>
                </a:solidFill>
                <a:latin typeface="Open Sans"/>
              </a:rPr>
              <a:t>Damos a las protectoras la visibilidad que merecen y a los adoptantes </a:t>
            </a:r>
            <a:r>
              <a:rPr sz="2000" b="1">
                <a:solidFill>
                  <a:srgbClr val="E2725B"/>
                </a:solidFill>
                <a:latin typeface="Open Sans"/>
              </a:rPr>
              <a:t>el camino más corto a su nuevo compañero.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800600"/>
            <a:ext cx="3383280" cy="822960"/>
          </a:xfrm>
          <a:prstGeom prst="roundRect">
            <a:avLst/>
          </a:prstGeom>
          <a:solidFill>
            <a:srgbClr val="9F40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800600"/>
            <a:ext cx="33832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Montserrat"/>
              </a:rPr>
              <a:t>Adopta, no compres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6423E"/>
                </a:solidFill>
                <a:latin typeface="Open Sans"/>
              </a:rPr>
              <a:t>Adoptia · Plataforma de adopción animal · Hecho con cariño en España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